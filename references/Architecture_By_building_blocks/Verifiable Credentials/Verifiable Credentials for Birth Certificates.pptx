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Tw6qRgtjrZUKpoB7gdnBekw8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0C0658-8FE5-4C2A-BD74-7FBADF7F56AA}">
  <a:tblStyle styleId="{180C0658-8FE5-4C2A-BD74-7FBADF7F56A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a531f959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ca531f959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ca531f959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a531f9597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ca531f9597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ca531f9597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25.png"/><Relationship Id="rId7" Type="http://schemas.openxmlformats.org/officeDocument/2006/relationships/image" Target="../media/image20.png"/><Relationship Id="rId8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4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37160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0" y="292608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640080" y="91440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Verifiable Credentials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for Birth Certificates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292608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Digital Public Infrastructure Principles, Standards &amp; Delegated Access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GovStack working group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1143000"/>
            <a:ext cx="7863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40080" y="1143000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252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417320" y="11612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Why VCs for Birth Certificates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417320" y="14173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problem space and 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1764792"/>
            <a:ext cx="7863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40080" y="1764792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8470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1417320" y="1783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DPI Principles Applied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17320" y="20391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Minimalism, inclusion, interoperability,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2386584"/>
            <a:ext cx="7863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40080" y="2386584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468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1417320" y="24048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VC as Input &amp;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417320" y="266090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Issuance from CRVS; presentation to relying parties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" y="3008376"/>
            <a:ext cx="7863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40080" y="3008376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0906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1417320" y="30266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Standards Choice &amp; Rationale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417320" y="3282696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W3C VC, OpenID4VCI/VP, SD-JWT, mDL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0080" y="3630168"/>
            <a:ext cx="7863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40080" y="3630168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71246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1417320" y="36484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Delegated Access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417320" y="390448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Parent/guardian flows, consent, and revocation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40080" y="4251960"/>
            <a:ext cx="7863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40080" y="4251960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33425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1417320" y="42702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Implementation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417320" y="452628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Wallet, issuer, verifier interactions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Why Verifiable Credentials for Birth Certificates?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0080" y="1188720"/>
            <a:ext cx="2560320" cy="164592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40080" y="13258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166M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22960" y="20574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children under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without birth registration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474720" y="1188720"/>
            <a:ext cx="2560320" cy="164592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474720" y="13258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45%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0" y="20574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of births in Sub-Saharan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Africa go unregistered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309360" y="1188720"/>
            <a:ext cx="2560320" cy="164592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309360" y="13258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1B+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92240" y="20574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people globally lack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proof of legal identity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22960" y="329184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Paper certificates are easily lost, damaged, forged, and expensive to replace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22960" y="37033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097280" y="36118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Cross-border verification requires physical document exchange and apostille processes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22960" y="411480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1097280" y="4023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Parents must carry original documents, creating single points of failure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22960" y="452628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097280" y="4434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selective disclosure: full identity details exposed for simple age 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46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DPI Principles Applied to Birth Certificate VCs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0080" y="1097280"/>
            <a:ext cx="2560320" cy="169164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1280160" y="12801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Inclusion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22960" y="173736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Offline-capable verification for remote areas. Low-tech fallback with QR codes. No smartphone requirement for verification.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474720" y="1097280"/>
            <a:ext cx="2560320" cy="169164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4114800" y="12801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Interoperability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657600" y="173736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Open standards (W3C VC, OpenID4VP) ensure cross-border and cross-system acceptance. No vendor lock-in.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309360" y="1097280"/>
            <a:ext cx="2560320" cy="169164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224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6949440" y="12801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Security &amp; Privacy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492240" y="173736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Selective disclosure (SD-JWT) reveals only what's needed. Cryptographic integrity without central database queries.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40080" y="3017520"/>
            <a:ext cx="2560320" cy="169164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32004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1280160" y="3200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Minimalism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22960" y="36576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Build on existing CRVS infrastructure. VCs are a layer atop civil registration, not a replacement.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474720" y="3017520"/>
            <a:ext cx="2560320" cy="169164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7600" y="32004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4114800" y="3200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User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657600" y="36576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Credentials held in citizen wallets. Consent-driven sharing. Holder can revoke access at any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309360" y="3017520"/>
            <a:ext cx="2560320" cy="169164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92240" y="32004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6949440" y="3200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Federated 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492240" y="36576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Trust registries enable verification across jurisdictions without a single central authority.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Birth Certificate VC: Issuance &amp; Presentation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VC as OUTPUT — Issuance from CRVS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60120" y="16459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Birth registered in Civil Registration &amp; Vital Statistics (CRVS) 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40080" y="21945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960120" y="21945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CRVS authority acts as VC Issuer, signing credential with institutional key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0080" y="2743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60120" y="27432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VC issued via OpenID4VCI protocol to parent/guardian wallet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0080" y="32918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60120" y="32918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Credential contains: child name, DOB, place of birth, parents, registration number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40080" y="38404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60120" y="38404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Cryptographic proof binds credential to issuing authority's DID/PKI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VC as INPUT — Presentation to Relying Parties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937760" y="1645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257800" y="16459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Relying party (school, hospital, border) requests proof via OpenID4VP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937760" y="21945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257800" y="21945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Wallet selects birth certificate VC, applies selective disclosure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937760" y="2743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257800" y="27432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Only required claims shared (e.g., age &gt; 5 for school enrollment)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937760" y="32918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257800" y="32918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Verifier checks cryptographic signature against trust registry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937760" y="38404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257800" y="38404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call-back to issuer needed — offline verification supported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same credential serves as both a digitally signed output of civil registration and a verifiable input to downstream services.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Standards Selection &amp; Rationale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40080" y="1051560"/>
            <a:ext cx="7863840" cy="8686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40080" y="1051560"/>
            <a:ext cx="54864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914400" y="1161288"/>
            <a:ext cx="1005840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914400" y="116128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CREDENTIAL FORMAT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914400" y="14173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W3C Verifiable Credentials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(Data Model 2.0)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200400" y="1124712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Global interoperability standard. JSON-LD or JWT encoding. Extensible schema for birth certificate claims. Supported by all major wallet vendors.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40080" y="2039112"/>
            <a:ext cx="7863840" cy="8686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40080" y="2039112"/>
            <a:ext cx="54864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914400" y="2148840"/>
            <a:ext cx="1005840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914400" y="2148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DISCLOSURE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14400" y="240487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SD-JWT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(Selective Disclosure JWT)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200400" y="2112264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Enables sharing only specific claims (e.g., child's age without full name). Simpler than BBS+ signatures. Growing ecosystem support. IETF standardized.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40080" y="3026664"/>
            <a:ext cx="7863840" cy="8686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40080" y="3026664"/>
            <a:ext cx="54864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914400" y="3136392"/>
            <a:ext cx="1005840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914400" y="313639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14400" y="3392424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OpenID4VCI / OpenID4VP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200400" y="3099816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Industry-standard issuance and presentation protocols. REST-based, wallet-agnostic. Same-device and cross-device flows. Built on proven OAuth 2.0.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40080" y="4014216"/>
            <a:ext cx="7863840" cy="8686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40080" y="4014216"/>
            <a:ext cx="54864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914400" y="4123944"/>
            <a:ext cx="1005840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914400" y="412394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 LAYER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14400" y="437997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DID:web + PKI Bridge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200400" y="4087368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Government issuers leverage existing PKI certificates. DID:web provides decentralized resolution. Trust registries (e.g., DeDi) discover issuer credibility.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Why This Standards Stack?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6" name="Google Shape;186;p7"/>
          <p:cNvGraphicFramePr/>
          <p:nvPr/>
        </p:nvGraphicFramePr>
        <p:xfrm>
          <a:off x="45720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{180C0658-8FE5-4C2A-BD74-7FBADF7F56AA}</a:tableStyleId>
              </a:tblPr>
              <a:tblGrid>
                <a:gridCol w="1371600"/>
                <a:gridCol w="1554475"/>
                <a:gridCol w="1645925"/>
                <a:gridCol w="36576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Choice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Alternative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Credential Format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W3C VC + SD-JWT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mDL (ISO 18013-5)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Broader claim flexibility; not limited to driving licence schema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Selective Disclosure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SD-JWT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BBS+ Signatures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Wider tooling; IETF track; no pairing-based crypto dependency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Issuance Protocol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OpenID4VCI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CHAPI / DIDComm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REST-native, OAuth-aligned; easier government system integration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Presentation Protocol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OpenID4VP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DIDComm Present Proof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Aligns with issuance stack; same-device + cross-device support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Trust Infrastructure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DID:web + PKI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DID:ion / DID:ethr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Leverages existing government PKI; no blockchain dependency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 Verification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Embedded proof + QR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Online-only status check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 for low-connectivity regions; DPI inclusion principle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pic>
        <p:nvPicPr>
          <p:cNvPr id="187" name="Google Shape;18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46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Delegated Access for Birth Certificate VCs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Children cannot hold or present their own credentials. Parents and guardians must act on their behalf.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57200" y="1371600"/>
            <a:ext cx="2697480" cy="338328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54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1097280" y="1572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Guardian as Holder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31520" y="22128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914400" y="21031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VC issued to parent/guardian wallet, not child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31520" y="28986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914400" y="27889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Credential subject ≠ credential holder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731520" y="35844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914400" y="34747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W3C VC data model natively supports holder ≠ subject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31520" y="42702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914400" y="41605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Multiple guardians can each hold a copy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337560" y="1371600"/>
            <a:ext cx="2697480" cy="338328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40" y="1554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3977640" y="1572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Consent &amp; Authorization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611880" y="22128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794760" y="21031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Parent grants time-limited access tokens to third parties (school, hospital)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611880" y="28986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3794760" y="27889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OAuth 2.0 delegation patterns via RAR (Rich Authorization Requests)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611880" y="35844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3794760" y="34747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Consent receipts recorded for audit trail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611880" y="42702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794760" y="41605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Granular: share DOB but not full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217920" y="1371600"/>
            <a:ext cx="2697480" cy="338328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554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6858000" y="15727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Lifecycle &amp; Revocation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492240" y="22128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675120" y="21031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Delegation revocable by guardian at any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492240" y="28986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675120" y="27889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Age-based transitions: child gains control at legal majority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492240" y="35844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675120" y="34747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Status list (Bitstring Status List) for revocation signals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492240" y="427024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6675120" y="41605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Custody change triggers re-issuance to new guardian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46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a531f9597_0_0"/>
          <p:cNvSpPr/>
          <p:nvPr/>
        </p:nvSpPr>
        <p:spPr>
          <a:xfrm>
            <a:off x="64008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Delegation Architecture: W3C VC Data Model Patterns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ca531f9597_0_0"/>
          <p:cNvSpPr/>
          <p:nvPr/>
        </p:nvSpPr>
        <p:spPr>
          <a:xfrm>
            <a:off x="640080" y="73152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W3C VC Data Model natively supports holder ≠ subject. Two architectural patterns address delegated access for minors.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ca531f9597_0_0"/>
          <p:cNvSpPr/>
          <p:nvPr/>
        </p:nvSpPr>
        <p:spPr>
          <a:xfrm>
            <a:off x="457200" y="1325880"/>
            <a:ext cx="3931800" cy="352050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a531f9597_0_0"/>
          <p:cNvSpPr/>
          <p:nvPr/>
        </p:nvSpPr>
        <p:spPr>
          <a:xfrm>
            <a:off x="457200" y="1325880"/>
            <a:ext cx="3931800" cy="502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ca531f9597_0_0"/>
          <p:cNvSpPr/>
          <p:nvPr/>
        </p:nvSpPr>
        <p:spPr>
          <a:xfrm>
            <a:off x="594360" y="135331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A: Single VC, Varying Holder &amp; Subject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ca531f9597_0_0"/>
          <p:cNvSpPr/>
          <p:nvPr/>
        </p:nvSpPr>
        <p:spPr>
          <a:xfrm>
            <a:off x="731520" y="2011680"/>
            <a:ext cx="3383400" cy="1371600"/>
          </a:xfrm>
          <a:prstGeom prst="rect">
            <a:avLst/>
          </a:prstGeom>
          <a:solidFill>
            <a:srgbClr val="0F2B46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ca531f9597_0_0"/>
          <p:cNvSpPr/>
          <p:nvPr/>
        </p:nvSpPr>
        <p:spPr>
          <a:xfrm>
            <a:off x="822960" y="205740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Birth Certificate VC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ca531f9597_0_0"/>
          <p:cNvSpPr/>
          <p:nvPr/>
        </p:nvSpPr>
        <p:spPr>
          <a:xfrm>
            <a:off x="822960" y="2377440"/>
            <a:ext cx="1508700" cy="457200"/>
          </a:xfrm>
          <a:prstGeom prst="rect">
            <a:avLst/>
          </a:prstGeom>
          <a:solidFill>
            <a:srgbClr val="144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ca531f9597_0_0"/>
          <p:cNvSpPr/>
          <p:nvPr/>
        </p:nvSpPr>
        <p:spPr>
          <a:xfrm>
            <a:off x="868680" y="2377440"/>
            <a:ext cx="141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credentialSubject: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ca531f9597_0_0"/>
          <p:cNvSpPr/>
          <p:nvPr/>
        </p:nvSpPr>
        <p:spPr>
          <a:xfrm>
            <a:off x="868680" y="2560320"/>
            <a:ext cx="141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id: did:child:123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ca531f9597_0_0"/>
          <p:cNvSpPr/>
          <p:nvPr/>
        </p:nvSpPr>
        <p:spPr>
          <a:xfrm>
            <a:off x="2468880" y="2377440"/>
            <a:ext cx="1554600" cy="457200"/>
          </a:xfrm>
          <a:prstGeom prst="rect">
            <a:avLst/>
          </a:prstGeom>
          <a:solidFill>
            <a:srgbClr val="144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a531f9597_0_0"/>
          <p:cNvSpPr/>
          <p:nvPr/>
        </p:nvSpPr>
        <p:spPr>
          <a:xfrm>
            <a:off x="2514600" y="2377440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holder: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ca531f9597_0_0"/>
          <p:cNvSpPr/>
          <p:nvPr/>
        </p:nvSpPr>
        <p:spPr>
          <a:xfrm>
            <a:off x="2514600" y="2560320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id: did:parent:456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ca531f9597_0_0"/>
          <p:cNvSpPr/>
          <p:nvPr/>
        </p:nvSpPr>
        <p:spPr>
          <a:xfrm>
            <a:off x="2240280" y="2395728"/>
            <a:ext cx="32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ca531f9597_0_0"/>
          <p:cNvSpPr/>
          <p:nvPr/>
        </p:nvSpPr>
        <p:spPr>
          <a:xfrm>
            <a:off x="822960" y="3575304"/>
            <a:ext cx="73200" cy="73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ca531f9597_0_0"/>
          <p:cNvSpPr/>
          <p:nvPr/>
        </p:nvSpPr>
        <p:spPr>
          <a:xfrm>
            <a:off x="1005840" y="3493008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Single credential issued by CRVS authority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ca531f9597_0_0"/>
          <p:cNvSpPr/>
          <p:nvPr/>
        </p:nvSpPr>
        <p:spPr>
          <a:xfrm>
            <a:off x="822960" y="3831336"/>
            <a:ext cx="73200" cy="73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ca531f9597_0_0"/>
          <p:cNvSpPr/>
          <p:nvPr/>
        </p:nvSpPr>
        <p:spPr>
          <a:xfrm>
            <a:off x="1005840" y="374904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credentialSubject = child (the identity owner)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ca531f9597_0_0"/>
          <p:cNvSpPr/>
          <p:nvPr/>
        </p:nvSpPr>
        <p:spPr>
          <a:xfrm>
            <a:off x="822960" y="4087368"/>
            <a:ext cx="73200" cy="73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ca531f9597_0_0"/>
          <p:cNvSpPr/>
          <p:nvPr/>
        </p:nvSpPr>
        <p:spPr>
          <a:xfrm>
            <a:off x="1005840" y="4005072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holder = parent/guardian (who presents it)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ca531f9597_0_0"/>
          <p:cNvSpPr/>
          <p:nvPr/>
        </p:nvSpPr>
        <p:spPr>
          <a:xfrm>
            <a:off x="822960" y="4343400"/>
            <a:ext cx="73200" cy="73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ca531f9597_0_0"/>
          <p:cNvSpPr/>
          <p:nvPr/>
        </p:nvSpPr>
        <p:spPr>
          <a:xfrm>
            <a:off x="1005840" y="4261104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Holder field changes on custody transfer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ca531f9597_0_0"/>
          <p:cNvSpPr/>
          <p:nvPr/>
        </p:nvSpPr>
        <p:spPr>
          <a:xfrm>
            <a:off x="822960" y="4599432"/>
            <a:ext cx="73200" cy="73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ca531f9597_0_0"/>
          <p:cNvSpPr/>
          <p:nvPr/>
        </p:nvSpPr>
        <p:spPr>
          <a:xfrm>
            <a:off x="1005840" y="4517136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Simpler wallet management — one artifact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ca531f9597_0_0"/>
          <p:cNvSpPr/>
          <p:nvPr/>
        </p:nvSpPr>
        <p:spPr>
          <a:xfrm>
            <a:off x="4754880" y="1325880"/>
            <a:ext cx="3931800" cy="3520500"/>
          </a:xfrm>
          <a:prstGeom prst="rect">
            <a:avLst/>
          </a:prstGeom>
          <a:solidFill>
            <a:srgbClr val="0C1E3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ca531f9597_0_0"/>
          <p:cNvSpPr/>
          <p:nvPr/>
        </p:nvSpPr>
        <p:spPr>
          <a:xfrm>
            <a:off x="4754880" y="1325880"/>
            <a:ext cx="3931800" cy="502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ca531f9597_0_0"/>
          <p:cNvSpPr/>
          <p:nvPr/>
        </p:nvSpPr>
        <p:spPr>
          <a:xfrm>
            <a:off x="4892040" y="135331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B: Multi-VC — Holder VC + Subject VC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ca531f9597_0_0"/>
          <p:cNvSpPr/>
          <p:nvPr/>
        </p:nvSpPr>
        <p:spPr>
          <a:xfrm>
            <a:off x="4937760" y="2011680"/>
            <a:ext cx="1645800" cy="1371600"/>
          </a:xfrm>
          <a:prstGeom prst="rect">
            <a:avLst/>
          </a:prstGeom>
          <a:solidFill>
            <a:srgbClr val="0F2B46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ca531f9597_0_0"/>
          <p:cNvSpPr/>
          <p:nvPr/>
        </p:nvSpPr>
        <p:spPr>
          <a:xfrm>
            <a:off x="4983480" y="2057400"/>
            <a:ext cx="15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Guardian VC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ca531f9597_0_0"/>
          <p:cNvSpPr/>
          <p:nvPr/>
        </p:nvSpPr>
        <p:spPr>
          <a:xfrm>
            <a:off x="4983480" y="2331720"/>
            <a:ext cx="1554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subject: parent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holder: parent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relationship: guardian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scope: [claims list]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ca531f9597_0_0"/>
          <p:cNvSpPr/>
          <p:nvPr/>
        </p:nvSpPr>
        <p:spPr>
          <a:xfrm>
            <a:off x="6766560" y="2011680"/>
            <a:ext cx="1737300" cy="1371600"/>
          </a:xfrm>
          <a:prstGeom prst="rect">
            <a:avLst/>
          </a:prstGeom>
          <a:solidFill>
            <a:srgbClr val="0F2B46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ca531f9597_0_0"/>
          <p:cNvSpPr/>
          <p:nvPr/>
        </p:nvSpPr>
        <p:spPr>
          <a:xfrm>
            <a:off x="6812280" y="2057400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Birth Cert VC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ca531f9597_0_0"/>
          <p:cNvSpPr/>
          <p:nvPr/>
        </p:nvSpPr>
        <p:spPr>
          <a:xfrm>
            <a:off x="6812280" y="2331720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subject: child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holder: child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DOB, name, place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registration #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ca531f9597_0_0"/>
          <p:cNvSpPr/>
          <p:nvPr/>
        </p:nvSpPr>
        <p:spPr>
          <a:xfrm>
            <a:off x="6492240" y="24688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ca531f9597_0_0"/>
          <p:cNvSpPr/>
          <p:nvPr/>
        </p:nvSpPr>
        <p:spPr>
          <a:xfrm>
            <a:off x="5029200" y="3575304"/>
            <a:ext cx="73200" cy="73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ca531f9597_0_0"/>
          <p:cNvSpPr/>
          <p:nvPr/>
        </p:nvSpPr>
        <p:spPr>
          <a:xfrm>
            <a:off x="5212080" y="3493008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Two credentials presented together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ca531f9597_0_0"/>
          <p:cNvSpPr/>
          <p:nvPr/>
        </p:nvSpPr>
        <p:spPr>
          <a:xfrm>
            <a:off x="5029200" y="3831336"/>
            <a:ext cx="73200" cy="73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ca531f9597_0_0"/>
          <p:cNvSpPr/>
          <p:nvPr/>
        </p:nvSpPr>
        <p:spPr>
          <a:xfrm>
            <a:off x="5212080" y="374904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Guardian VC proves delegation authority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ca531f9597_0_0"/>
          <p:cNvSpPr/>
          <p:nvPr/>
        </p:nvSpPr>
        <p:spPr>
          <a:xfrm>
            <a:off x="5029200" y="4087368"/>
            <a:ext cx="73200" cy="73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ca531f9597_0_0"/>
          <p:cNvSpPr/>
          <p:nvPr/>
        </p:nvSpPr>
        <p:spPr>
          <a:xfrm>
            <a:off x="5212080" y="4005072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Birth Cert VC is the child's identity claim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ca531f9597_0_0"/>
          <p:cNvSpPr/>
          <p:nvPr/>
        </p:nvSpPr>
        <p:spPr>
          <a:xfrm>
            <a:off x="5029200" y="4343400"/>
            <a:ext cx="73200" cy="73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ca531f9597_0_0"/>
          <p:cNvSpPr/>
          <p:nvPr/>
        </p:nvSpPr>
        <p:spPr>
          <a:xfrm>
            <a:off x="5212080" y="4261104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Revoke guardian VC without touching birth cert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ca531f9597_0_0"/>
          <p:cNvSpPr/>
          <p:nvPr/>
        </p:nvSpPr>
        <p:spPr>
          <a:xfrm>
            <a:off x="5029200" y="4599432"/>
            <a:ext cx="73200" cy="73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ca531f9597_0_0"/>
          <p:cNvSpPr/>
          <p:nvPr/>
        </p:nvSpPr>
        <p:spPr>
          <a:xfrm>
            <a:off x="5212080" y="4517136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Supports multiple guardians independently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g3ca531f959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a531f9597_0_48"/>
          <p:cNvSpPr/>
          <p:nvPr/>
        </p:nvSpPr>
        <p:spPr>
          <a:xfrm>
            <a:off x="640080" y="2743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Single-VC vs. Multi-VC: Trade-offs &amp; Recommendation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g3ca531f9597_0_48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{180C0658-8FE5-4C2A-BD74-7FBADF7F56AA}</a:tableStyleId>
              </a:tblPr>
              <a:tblGrid>
                <a:gridCol w="128015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Pattern A: Single VC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Pattern B: Multi-VC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Credential Structure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VC with credentialSubject = child, holder = parent/guardian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Guardian VC (authority) + Birth Cert VC (identity). Presented as a pair.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W3C VC Alignment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 use of holder ≠ subject in VC Data Model 2.0. Clean, standard-native.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standard VC model for each credential. Linkage via credential references.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Guardian Revocation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re-issuance of entire birth cert VC with updated holder field.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Revoke guardian VC only; birth cert VC remains untouched.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Guardians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separate VC per guardian (each with same subject, different holder).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 separate guardian VCs; all link to same birth cert VC.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Custody Change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Re-issue VC with new holder. Old VC must be revoked via status list.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Revoke old guardian VC, issue new one. Birth cert stays valid.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Wallet Complexity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Simpler — single artifact in wallet. Parent presents one credential.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credentials must be managed and presented together. More complex UX.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Verifier Complexity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 VC verification. Check holder ≠ subject and validate signature.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Must verify both VCs and validate the linkage between them.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Age-of-Majority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Transition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Re-issue with holder = subject (child becomes holder of their own VC).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Child takes direct possession of birth cert VC. Guardian VCs expire.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pic>
        <p:nvPicPr>
          <p:cNvPr id="286" name="Google Shape;286;g3ca531f9597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End-to-End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57200" y="1005840"/>
            <a:ext cx="269748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457200" y="1005840"/>
            <a:ext cx="269748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594360" y="102412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Issuer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94360" y="135331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CRVS Authority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94360" y="187452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594360" y="1874520"/>
            <a:ext cx="4572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777240" y="19202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Civil Registration DB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94360" y="242316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594360" y="2423160"/>
            <a:ext cx="4572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777240" y="24688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VC Issuance Service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94360" y="297180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94360" y="2971800"/>
            <a:ext cx="4572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777240" y="30175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OpenID4VCI Endpoint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94360" y="352044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594360" y="3520440"/>
            <a:ext cx="4572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777240" y="35661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DID:web / PKI Keys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94360" y="406908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594360" y="4069080"/>
            <a:ext cx="4572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777240" y="41148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Status List Publisher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3383280" y="1005840"/>
            <a:ext cx="269748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3383280" y="1005840"/>
            <a:ext cx="2697480" cy="6400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3520440" y="102412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Holder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3520440" y="135331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Parent/Guardian Wallet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520440" y="187452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3520440" y="1874520"/>
            <a:ext cx="4572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3703320" y="19202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Wallet App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520440" y="242316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3520440" y="2423160"/>
            <a:ext cx="4572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3703320" y="24688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Credential Store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3520440" y="297180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3520440" y="2971800"/>
            <a:ext cx="4572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3703320" y="30175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Delegation Manager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3520440" y="352044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3520440" y="3520440"/>
            <a:ext cx="4572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3703320" y="35661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SD-JWT Processor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520440" y="406908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3520440" y="4069080"/>
            <a:ext cx="45720" cy="4114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3703320" y="41148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Offline QR Generator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309360" y="1005840"/>
            <a:ext cx="269748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6309360" y="1005840"/>
            <a:ext cx="26974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6446520" y="102412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Verifier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6446520" y="135331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Relying Party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446520" y="187452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6446520" y="1874520"/>
            <a:ext cx="45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6629400" y="19202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OpenID4VP 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6446520" y="242316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6446520" y="2423160"/>
            <a:ext cx="45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6629400" y="24688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Trust Registry Resolver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6446520" y="297180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6446520" y="2971800"/>
            <a:ext cx="45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6629400" y="30175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Signature Verifier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6446520" y="352044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6446520" y="3520440"/>
            <a:ext cx="45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6629400" y="35661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Status Check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6446520" y="4069080"/>
            <a:ext cx="2423160" cy="4114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6446520" y="4069080"/>
            <a:ext cx="45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6629400" y="41148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Delegation Token Validator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"/>
          <p:cNvSpPr/>
          <p:nvPr/>
        </p:nvSpPr>
        <p:spPr>
          <a:xfrm>
            <a:off x="457205" y="32004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2B46"/>
                </a:solidFill>
                <a:latin typeface="Georgia"/>
                <a:ea typeface="Georgia"/>
                <a:cs typeface="Georgia"/>
                <a:sym typeface="Georgia"/>
              </a:rPr>
              <a:t>Key Considerations &amp; Recommendations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457200" y="1051560"/>
            <a:ext cx="4023360" cy="10972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457200" y="1051560"/>
            <a:ext cx="54864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6128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1"/>
          <p:cNvSpPr/>
          <p:nvPr/>
        </p:nvSpPr>
        <p:spPr>
          <a:xfrm>
            <a:off x="1051560" y="1143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Trust Framework First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40080" y="15087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Establish a governance framework defining issuer accreditation, credential schemas, and revocation policies before technical implementation.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4754880" y="1051560"/>
            <a:ext cx="4023360" cy="10972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4754880" y="1051560"/>
            <a:ext cx="54864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16128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1"/>
          <p:cNvSpPr/>
          <p:nvPr/>
        </p:nvSpPr>
        <p:spPr>
          <a:xfrm>
            <a:off x="5349240" y="1143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Inclusion by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4937760" y="15087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QR-based offline verification and assisted models for non-smartphone users ensure no one is excluded from the system.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457200" y="2331720"/>
            <a:ext cx="4023360" cy="10972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457200" y="2331720"/>
            <a:ext cx="54864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4414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1"/>
          <p:cNvSpPr/>
          <p:nvPr/>
        </p:nvSpPr>
        <p:spPr>
          <a:xfrm>
            <a:off x="1051560" y="2423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Gradual Migration Path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640080" y="27889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VCs augment, not replace, existing paper certificates. Dual-track issuance allows gradual adoption without disrupting current CRVS workflows.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4754880" y="2331720"/>
            <a:ext cx="4023360" cy="10972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4754880" y="2331720"/>
            <a:ext cx="54864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4" name="Google Shape;37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24414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1"/>
          <p:cNvSpPr/>
          <p:nvPr/>
        </p:nvSpPr>
        <p:spPr>
          <a:xfrm>
            <a:off x="5349240" y="2423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Privacy-Preserving Defaults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4937760" y="27889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Default to selective disclosure. Never share full birth certificate data when a subset suffices. Embed privacy into protocol choice (SD-JWT).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457200" y="3611880"/>
            <a:ext cx="4023360" cy="10972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457200" y="3611880"/>
            <a:ext cx="54864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9" name="Google Shape;37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37216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1"/>
          <p:cNvSpPr/>
          <p:nvPr/>
        </p:nvSpPr>
        <p:spPr>
          <a:xfrm>
            <a:off x="1051560" y="3703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Delegation Governance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640080" y="406908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legal frameworks for guardian delegation, age-of-majority transitions, and custody change scenarios across jurisdictions.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754880" y="3611880"/>
            <a:ext cx="4023360" cy="109728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4754880" y="3611880"/>
            <a:ext cx="54864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4" name="Google Shape;384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37760" y="37216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1"/>
          <p:cNvSpPr/>
          <p:nvPr/>
        </p:nvSpPr>
        <p:spPr>
          <a:xfrm>
            <a:off x="5349240" y="3703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B46"/>
                </a:solidFill>
                <a:latin typeface="Calibri"/>
                <a:ea typeface="Calibri"/>
                <a:cs typeface="Calibri"/>
                <a:sym typeface="Calibri"/>
              </a:rPr>
              <a:t>Cross-Border Trust Discovery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937760" y="406908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 federated trust registries (e.g., DeDi protocol) so birth certificate VCs issued in one jurisdiction can be verified in another.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4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4" name="Google Shape;39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459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2"/>
          <p:cNvSpPr/>
          <p:nvPr/>
        </p:nvSpPr>
        <p:spPr>
          <a:xfrm>
            <a:off x="3657600" y="91440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Building Trust 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Digital Identity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from Birth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3657600" y="283464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Verifiable Credentials transform birth certificates from static paper documents into dynamic, privacy-preserving, digitally verifiable assets — anchored in DPI principles of inclusion, interoperability, and user control.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3657600" y="4114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2026-02-16T13:13:01Z</dcterms:created>
  <dc:creator>Antoine - CDPI</dc:creator>
</cp:coreProperties>
</file>