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zEMblSNIu9t2wWV50nZ5jZyQR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EBA425-A18B-4423-A816-91713A9BEE8C}">
  <a:tblStyle styleId="{B0EBA425-A18B-4423-A816-91713A9BEE8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Bilateral</a:t>
            </a:r>
            <a:r>
              <a:rPr lang="en-US"/>
              <a:t>: each issuer validates every other individually meaning </a:t>
            </a:r>
            <a:r>
              <a:rPr lang="en-US"/>
              <a:t>doubling participants from 50 to 100 doesn't double the relationships — it roughly quadruples them (1,225 to 4,950)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Hub &amp; Spoke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one central registry, each issuer registers once: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50 relationships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Add 10 more issuers, it's just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60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Federated Trust -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Ideal - k registries each managing m issuers. Trust list that all countries join once. ICAO's PKD is the classic example: a country uploads its CSCA certificate to the directory, and every other member country can verify its passports without a direct bilateral agreement. Adding country number 21 costs one relationship (join the directory), not 20 bilateral negotiations.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2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0972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731520" y="22860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Trust Infrastructure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 Digital Public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Infrastructure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4114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Validating Issuers  •  Signature Formats  •  Scaling Trust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Tech Workshop  |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0" y="457200"/>
            <a:ext cx="1828800" cy="1828800"/>
          </a:xfrm>
          <a:prstGeom prst="rect">
            <a:avLst/>
          </a:prstGeom>
          <a:solidFill>
            <a:srgbClr val="0D7377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498080" y="1645920"/>
            <a:ext cx="1371600" cy="1371600"/>
          </a:xfrm>
          <a:prstGeom prst="rect">
            <a:avLst/>
          </a:prstGeom>
          <a:solidFill>
            <a:srgbClr val="14B8A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Why Trust Matters in DPI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Without trust infrastructure, digital credentials are just signed data blobs.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463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731520" y="21031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190+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31520" y="26517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Countries developing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digital identity systems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383280" y="1463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3566160" y="21031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~40%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566160" y="26517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Of credentials fail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cross-border verification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217920" y="1463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6400800" y="21031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Zero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400800" y="26517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Universal trust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framework exists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22960" y="379476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core question: When a verifier receives a credential, how do they know the issuer is legitimate and the signature is authentic?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2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Workshop Roadmap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0D737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85800" y="114300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16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1828800" y="1097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Issuer 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828800" y="14630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verifiers confirm that a credential comes from a legitimate authority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7498080" y="11887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0D737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85800" y="210312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0160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1828800" y="2057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Signature Formats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828800" y="24231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JWS, CL Signatures, BBS+ — what they are and when to use them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0D737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85800" y="306324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0160" y="3154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1828800" y="30175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Scaling Trust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828800" y="33832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Trust lists, registries, and federated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0D737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85800" y="40233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4B8A6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" name="Google Shape;7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80160" y="4114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1828800" y="3977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Trust Models Deep Dive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828800" y="43434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GLEIF, DIDs, blockchain registries, and certificate-based approaches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377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31520" y="192024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31520" y="21945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Identifying 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Valid Issuer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31520" y="35661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How do verifiers know a credential came from a legitimate authority?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The Issuer Validation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548640" y="1005840"/>
            <a:ext cx="38404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1234440" y="1234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Trebuchet MS"/>
                <a:ea typeface="Trebuchet MS"/>
                <a:cs typeface="Trebuchet MS"/>
                <a:sym typeface="Trebuchet MS"/>
              </a:rPr>
              <a:t>The Challenge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22960" y="1737360"/>
            <a:ext cx="32918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Anyone can generate a key pair and sign a credential claiming to be a government ministry.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valid cryptographic signature only proves the data wasn't tampered with — it says nothing about who signed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Without issuer validation, the entire verifiable credentials model collapses.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4754880" y="1005840"/>
            <a:ext cx="38404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5440680" y="1234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What Validation Requires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029200" y="1737360"/>
            <a:ext cx="32918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Binding identity to a public key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Through certificates, DID documents, or registry entries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trusted anchor or root of trust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 hierarchy, governance framework, or legal entity verification</a:t>
            </a:r>
            <a:b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Revocation &amp; status checking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CRLs, OCSP, status lists, or DID deactivation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Issuer Validation Flow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65760" y="109728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65760" y="1097280"/>
            <a:ext cx="1920240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1005840" y="1371600"/>
            <a:ext cx="640080" cy="64008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005840" y="1371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02920" y="21945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Receive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Credential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02920" y="288036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Verifier receives a VC from a holder with an issuer identifier (DID, URL, or X.509 subject)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2286000" y="22860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2560320" y="109728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2560320" y="1097280"/>
            <a:ext cx="1920240" cy="54864"/>
          </a:xfrm>
          <a:prstGeom prst="rect">
            <a:avLst/>
          </a:prstGeom>
          <a:solidFill>
            <a:srgbClr val="0E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200400" y="1371600"/>
            <a:ext cx="640080" cy="640080"/>
          </a:xfrm>
          <a:prstGeom prst="ellipse">
            <a:avLst/>
          </a:prstGeom>
          <a:solidFill>
            <a:srgbClr val="0E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3200400" y="1371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697480" y="21945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Resolve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Issuer 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2697480" y="288036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Look up the issuer's public key via DID resolution, .well-known endpoint, or certificate chain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480560" y="22860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754880" y="109728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394960" y="137160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394960" y="1371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892040" y="21945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Verify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Signature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892040" y="288036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Validate the cryptographic signature against the resolved public key material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675120" y="228600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949440" y="1097280"/>
            <a:ext cx="19202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949440" y="1097280"/>
            <a:ext cx="19202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589520" y="13716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589520" y="1371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086600" y="21945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Check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Trust Status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086600" y="288036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Confirm issuer appears in a trusted registry, trust list, or governed federation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377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31520" y="192024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731520" y="21945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Signature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Formats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JWS, CL Signatures, BBS+ — the cryptographic backbone of verifiable credentials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Signature Formats at a Glance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8"/>
          <p:cNvGraphicFramePr/>
          <p:nvPr/>
        </p:nvGraphicFramePr>
        <p:xfrm>
          <a:off x="36576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{B0EBA425-A18B-4423-A816-91713A9BEE8C}</a:tableStyleId>
              </a:tblPr>
              <a:tblGrid>
                <a:gridCol w="1463050"/>
                <a:gridCol w="1463050"/>
                <a:gridCol w="1280150"/>
                <a:gridCol w="1097275"/>
                <a:gridCol w="29260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Standard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Selective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Disclosure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ZKP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JWS / JWP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 RFC 7515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SD-JWT (RFC 9449)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Via SD-JWT 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W3C JWT-VC, OpenID4VCI,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most DPI implementations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 Signatures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Hyperledger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Indy / AnonCreds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Native 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Privacy-preserving ID,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proofs, attribute-based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BBS+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W3C CCG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(draft standard)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Native 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Next-gen VCs with selective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disclosure at scale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COSE / CWT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IETF RFC 9052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ISO 18013-5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Via headers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mDL, EUDI Wallet,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constrained IoT devices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XML DSig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W3C / ETSI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XAdES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eIDAS, SAML assertions,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legacy PKI systems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8"/>
          <p:cNvSpPr/>
          <p:nvPr/>
        </p:nvSpPr>
        <p:spPr>
          <a:xfrm>
            <a:off x="365760" y="4023360"/>
            <a:ext cx="8412480" cy="7315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💡  For DPI systems: SD-JWT is the pragmatic default. BBS+ is the future for privacy. COSE for mobile wallets.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SD-JWT: The DPI Workhorse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" y="1005840"/>
            <a:ext cx="41148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/>
          <p:nvPr/>
        </p:nvSpPr>
        <p:spPr>
          <a:xfrm>
            <a:off x="1234440" y="11887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How SD-JWT Works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822960" y="1691640"/>
            <a:ext cx="3566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1. Issuer signs a JWT with hashed claim values (_sd array)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2. Disclosure values are appended as ~ separated strings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3. Holder selects which disclosures to present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4. Verifier hashes received disclosures and matches against _sd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5. Optional key binding JWT proves holder possession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937760" y="1005840"/>
            <a:ext cx="3840480" cy="3657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5212080" y="11887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SD-JWT for DPI?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212080" y="1691640"/>
            <a:ext cx="3291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 JSON —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new crypto libraries needed; works with existing JWT infrastructure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Progressive adoption —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with full JWT, add SD when ready for selective disclosure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OpenID4VCI native —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first-class support in the credential issuance protocol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User-centric -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fully gives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back to the holder of the data</a:t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37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731520" y="192024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731520" y="219456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Scaling Trust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From bilateral agreements to federated trust ecosystems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The Trust Scaling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548640" y="91440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3600"/>
              <a:buFont typeface="Consolas"/>
              <a:buNone/>
            </a:pPr>
            <a:r>
              <a:rPr b="1" i="0" lang="en-US" sz="3600" u="none" cap="none" strike="noStrike">
                <a:solidFill>
                  <a:srgbClr val="0D7377"/>
                </a:solidFill>
                <a:latin typeface="Consolas"/>
                <a:ea typeface="Consolas"/>
                <a:cs typeface="Consolas"/>
                <a:sym typeface="Consolas"/>
              </a:rPr>
              <a:t>n(n-1)/2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Bilateral trust relationships needed for n participants in a direct trust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48640" y="237744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548640" y="2377440"/>
            <a:ext cx="2560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731520" y="2606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Bilateral Trust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731520" y="29260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O(n²)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731520" y="3383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Each party validates each issuer individually. Works for 5 parties, breaks at 50.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3383280" y="237744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3383280" y="2377440"/>
            <a:ext cx="256032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3566160" y="2606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Hub &amp; Spoke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3566160" y="29260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O(n)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3566160" y="3383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Central authority maintains the list. Single point of failure, but scales linearly.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217920" y="2377440"/>
            <a:ext cx="256032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6217920" y="237744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6400800" y="2606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Federated Trust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400800" y="29260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O(k×m)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400800" y="3383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Multiple registries with cross-recognition. Scales across jurisdictions. Most DPI systems target this.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Trust Lists &amp; Registries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548640" y="8229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trust list is a curated, authoritative roster of issuers that verifiers can rely on. Different implementations serve different governance needs.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548640" y="1417320"/>
            <a:ext cx="80467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5819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2"/>
          <p:cNvSpPr/>
          <p:nvPr/>
        </p:nvSpPr>
        <p:spPr>
          <a:xfrm>
            <a:off x="1325880" y="14630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EU Trusted Lists (LOTL)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1325880" y="173736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Hierarchical model under eIDAS. Member states maintain national lists; a List of Trusted Lists provides the root. Used for qualified electronic signatures and seals.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48640" y="2286000"/>
            <a:ext cx="80467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45059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2"/>
          <p:cNvSpPr/>
          <p:nvPr/>
        </p:nvSpPr>
        <p:spPr>
          <a:xfrm>
            <a:off x="1325880" y="23317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TRAIN (Trust Registry Architecture)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1325880" y="260604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DNS-based trust infrastructure using TXT records. Lightweight, decentralized, and works across borders without heavy central infrastructure.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48640" y="3154680"/>
            <a:ext cx="80467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33192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2"/>
          <p:cNvSpPr/>
          <p:nvPr/>
        </p:nvSpPr>
        <p:spPr>
          <a:xfrm>
            <a:off x="132588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EBSI Trusted Issuer Registry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1325880" y="347472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Blockchain-anchored registry for the European Blockchain Services Infrastructure. Combines DID-based identity with on-chain accreditation records.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48640" y="4023360"/>
            <a:ext cx="8046720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4187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2"/>
          <p:cNvSpPr/>
          <p:nvPr/>
        </p:nvSpPr>
        <p:spPr>
          <a:xfrm>
            <a:off x="1325880" y="4069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OpenID Federation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1325880" y="434340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Hierarchical trust chains using signed metadata. Trust anchors publish entity statements that can be resolved and verified in chain.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7377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731520" y="192024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731520" y="219456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Trust Models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Deep Dive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GLEIF, DID-based trust, blockchain registries, certificate-based trust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GLEIF &amp; the vLEI Ecosystem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548640" y="914400"/>
            <a:ext cx="411480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548640" y="914400"/>
            <a:ext cx="73152" cy="3840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822960" y="10058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GLEIF?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822960" y="141732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Global Legal Entity Identifier Foundation manages the LEI system — a 20-character code that uniquely identifies legal entities worldwide.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822960" y="22860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vLEI: Verifiable LEI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822960" y="265176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Extends LEI into the VC world using KERI (Key Event Receipt Infrastructure) for cryptographic key management. Creates a verifiable chain from GLEIF → QVI → Legal Entity → Person.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822960" y="374904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DPI Relevance: Organizational identity is the missing layer in most national ID systems. vLEI bridges this gap.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4937760" y="914400"/>
            <a:ext cx="3840480" cy="3840480"/>
          </a:xfrm>
          <a:prstGeom prst="rect">
            <a:avLst/>
          </a:prstGeom>
          <a:solidFill>
            <a:srgbClr val="0B1D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5212080" y="10515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vLEI Trust Chain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5394960" y="1554480"/>
            <a:ext cx="3017520" cy="50292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5532120" y="15727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GLEIF Root of 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5532120" y="18105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Global governance authority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6675120" y="20299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5394960" y="2240280"/>
            <a:ext cx="3017520" cy="50292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5532120" y="22585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Qualified vLEI Issuer (QVI)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5532120" y="24963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Accredited by GLEIF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6675120" y="27157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5394960" y="2926080"/>
            <a:ext cx="3017520" cy="50292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5532120" y="29443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Legal Entity vLEI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5532120" y="31821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Organization credential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6675120" y="340156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5394960" y="3611880"/>
            <a:ext cx="3017520" cy="50292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5532120" y="36301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Official Org. Role vLEI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5532120" y="38679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Person-in-role credential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DID-Based Trust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548640" y="8229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Decentralized Identifiers (DIDs) allow issuers to manage their own identity without a central authority. Trust is established through the DID method and governance layers on top.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365760" y="150876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365760" y="1508760"/>
            <a:ext cx="2651760" cy="4572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502920" y="1554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did:web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502920" y="21031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502920" y="233172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Simple, HTTP-based resolution. Uses existing domain infrastructure. Easy to implement.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502920" y="297180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502920" y="32004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Relies on DNS/TLS trust. Domain owner can rotate keys. Not decentralized.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502920" y="38404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DPI Fit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502920" y="406908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Government portals, institutional issuers with established web presence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3246120" y="150876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3246120" y="1508760"/>
            <a:ext cx="2651760" cy="4572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did:key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3383280" y="21031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3383280" y="233172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Self-contained — the DID IS the key. No resolution needed. Instant, offline-capable.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3383280" y="297180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3383280" y="32004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key rotation. No service endpoints. Ephemeral by nature.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3383280" y="38404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DPI Fit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3383280" y="406908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Holder DIDs, peer connections, testing environments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6126480" y="150876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6126480" y="1508760"/>
            <a:ext cx="2651760" cy="4572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6263640" y="1554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did:ion / did:ethr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6263640" y="21031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6263640" y="233172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Blockchain-anchored. Immutable history. Decentralized resolution.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6263640" y="297180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6263640" y="32004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Slower resolution. Blockchain dependency. Cost per operation.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6263640" y="384048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DPI Fit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6263640" y="406908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High-assurance issuers needing tamper-proof audit trail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Blockchain-Based Trust Registries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548640" y="914400"/>
            <a:ext cx="45720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051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6"/>
          <p:cNvSpPr/>
          <p:nvPr/>
        </p:nvSpPr>
        <p:spPr>
          <a:xfrm>
            <a:off x="1188720" y="10515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The Concept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777240" y="1463040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 distributed ledgers as immutable trust registries where issuer accreditations, credential schemas, and revocation entries are anchored on-chain. The blockchain provides a tamper-evident, decentralized source of truth that any verifier can query.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5394960" y="914400"/>
            <a:ext cx="3383280" cy="19202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/>
          <p:nvPr/>
        </p:nvSpPr>
        <p:spPr>
          <a:xfrm>
            <a:off x="5623560" y="10515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Implementations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5623560" y="141732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Hyperledger Indy —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Schema &amp; credential definition anchoring for AnonCreds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EBSI —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EU's trusted issuer registry on Hyperledger Besu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Cheqd —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Cosmos-based network for DID and resource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548640" y="3108960"/>
            <a:ext cx="4114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548640" y="3108960"/>
            <a:ext cx="41148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77724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Advantages for DPI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777240" y="356616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Tamper-evident audit trail for accreditation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single point of failure in registry availability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Cross-border verification without bilateral agreements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Transparent governance — all changes are public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4937760" y="3108960"/>
            <a:ext cx="384048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4937760" y="3108960"/>
            <a:ext cx="3840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5166360" y="32461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Challenges for DPI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5166360" y="356616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Political resistance to blockchain in government contexts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Scalability and transaction cost concerns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GDPR/data sovereignty compliance complexities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Operational complexity of node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Certificate-Based Trust (PKI)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548640" y="82296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oldest and most battle-tested trust model. X.509 certificate chains provide a well-understood path from issuer to a root 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548700" y="1457425"/>
            <a:ext cx="8376300" cy="1468800"/>
          </a:xfrm>
          <a:prstGeom prst="rect">
            <a:avLst/>
          </a:prstGeom>
          <a:solidFill>
            <a:srgbClr val="0B1D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686100" y="1600125"/>
            <a:ext cx="1463100" cy="105150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914400" y="16459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Root 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914400" y="192024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National PKI root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(offline, HSM-protected)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2149190" y="1897375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2583295" y="1600125"/>
            <a:ext cx="1554600" cy="105150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7"/>
          <p:cNvSpPr/>
          <p:nvPr/>
        </p:nvSpPr>
        <p:spPr>
          <a:xfrm>
            <a:off x="2743210" y="164592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Intermediate 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2743210" y="189739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Sector/ministry level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(signs issuer certs)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4330220" y="1828800"/>
            <a:ext cx="30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4826143" y="1600125"/>
            <a:ext cx="1554600" cy="105150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4968670" y="164592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Issuer Certificate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4968670" y="1874540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End-entity cert for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signing credentials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6556550" y="182880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7177790" y="1600125"/>
            <a:ext cx="1554600" cy="1051500"/>
          </a:xfrm>
          <a:prstGeom prst="rect">
            <a:avLst/>
          </a:prstGeom>
          <a:solidFill>
            <a:srgbClr val="0D737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/>
          <p:nvPr/>
        </p:nvSpPr>
        <p:spPr>
          <a:xfrm>
            <a:off x="7498080" y="16459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Signed Credential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7498105" y="1897365"/>
            <a:ext cx="1371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VC with X.509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signature chain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548640" y="3108960"/>
            <a:ext cx="393192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"/>
          <p:cNvSpPr/>
          <p:nvPr/>
        </p:nvSpPr>
        <p:spPr>
          <a:xfrm>
            <a:off x="548640" y="3108960"/>
            <a:ext cx="73152" cy="1691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822960" y="32004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D7377"/>
                </a:solidFill>
                <a:latin typeface="Trebuchet MS"/>
                <a:ea typeface="Trebuchet MS"/>
                <a:cs typeface="Trebuchet MS"/>
                <a:sym typeface="Trebuchet MS"/>
              </a:rPr>
              <a:t>DPI Applications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822960" y="352044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eIDAS qualified certificates, ICAO eMRTD (passport chips), mDL (ISO 18013-5 IACA certificates), national health certificate systems, government document signing infrastructure.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4754880" y="3108960"/>
            <a:ext cx="384048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4754880" y="3108960"/>
            <a:ext cx="73152" cy="1691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5029200" y="32004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Trebuchet MS"/>
                <a:ea typeface="Trebuchet MS"/>
                <a:cs typeface="Trebuchet MS"/>
                <a:sym typeface="Trebuchet MS"/>
              </a:rPr>
              <a:t>PKI → DID Bridge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5029200" y="3520440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Many DPI systems need to bridge PKI and DID worlds. Approaches include embedding X.509 certs in DID documents, using did:x509, or maintaining parallel trust chains with cross-certification at governance layer.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Trust Model Comparison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3" name="Google Shape;363;p18"/>
          <p:cNvGraphicFramePr/>
          <p:nvPr/>
        </p:nvGraphicFramePr>
        <p:xfrm>
          <a:off x="27432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{B0EBA425-A18B-4423-A816-91713A9BEE8C}</a:tableStyleId>
              </a:tblPr>
              <a:tblGrid>
                <a:gridCol w="1828800"/>
                <a:gridCol w="1645925"/>
                <a:gridCol w="1645925"/>
                <a:gridCol w="1645925"/>
                <a:gridCol w="16459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GLEIF / vLEI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DID-Based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Blockchain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Certificate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(PKI)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37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73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Decentralization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(governed hierarchy)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(self-sovereign)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(distributed ledger)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(CA hierarchy)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37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73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Offline Verification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(needs KERI events)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did:key 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others: No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(cached state)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(cert chain)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37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73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Gov. Readiness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Growing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(financial sector)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Emerging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(pilot stage)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Mixed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(political barriers)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Mature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(decades of use)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37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73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Cross-Border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(global LEI system)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 method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dependent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Bilateral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agreements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37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73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Identity Binding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 entities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 entity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Per-network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rules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(identity proofing)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37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73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Revocation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KERI event logs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 deactivation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 lists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On-chain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revocation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CRL / OCSP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pic>
        <p:nvPicPr>
          <p:cNvPr id="364" name="Google Shape;3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B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Choosing a Trust Model for DPI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9"/>
          <p:cNvSpPr/>
          <p:nvPr/>
        </p:nvSpPr>
        <p:spPr>
          <a:xfrm>
            <a:off x="548640" y="914400"/>
            <a:ext cx="73152" cy="6400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822960" y="9601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 you need offline verification?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 PKI certificate chains or did:key for holder-side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548640" y="1664208"/>
            <a:ext cx="8046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9"/>
          <p:cNvSpPr/>
          <p:nvPr/>
        </p:nvSpPr>
        <p:spPr>
          <a:xfrm>
            <a:off x="548640" y="1664208"/>
            <a:ext cx="73152" cy="640080"/>
          </a:xfrm>
          <a:prstGeom prst="rect">
            <a:avLst/>
          </a:prstGeom>
          <a:solidFill>
            <a:srgbClr val="0E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822960" y="17099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Is cross-border interop a requirement?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822960" y="1984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 GLEIF/vLEI for orgs + OpenID Federation for trust chains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548640" y="2414016"/>
            <a:ext cx="8046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548640" y="2414016"/>
            <a:ext cx="73152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822960" y="245973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Are you in an eIDAS/EU context?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822960" y="27340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 EU Trusted Lists + EBSI for DID-based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548640" y="3163824"/>
            <a:ext cx="8046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"/>
          <p:cNvSpPr/>
          <p:nvPr/>
        </p:nvSpPr>
        <p:spPr>
          <a:xfrm>
            <a:off x="548640" y="316382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822960" y="32095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 you need selective disclosure?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822960" y="34838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 SD-JWT with did:web issuers + trust list registry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548640" y="3913632"/>
            <a:ext cx="8046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548640" y="3913632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822960" y="39593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Privacy-preserving citizen ID?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822960" y="42336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 BBS+ or AnonCreds with governed issuer registry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"/>
          <p:cNvSpPr/>
          <p:nvPr/>
        </p:nvSpPr>
        <p:spPr>
          <a:xfrm>
            <a:off x="731520" y="4727448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Most real-world DPI implementations combine multiple trust models — PKI for existing systems + DIDs for new VC layers.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26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0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26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B1D26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1188720" y="100584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 is the hardest unsolved problem in DPI — technology alone won't fix it. Governance frameworks must accompany technical infrastructure.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0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26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B1D26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0"/>
          <p:cNvSpPr/>
          <p:nvPr/>
        </p:nvSpPr>
        <p:spPr>
          <a:xfrm>
            <a:off x="1188720" y="196596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SD-JWT is the practical starting point for most DPI credential systems.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Assess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BBS+ and others as the standards matures.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26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B1D26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0"/>
          <p:cNvSpPr/>
          <p:nvPr/>
        </p:nvSpPr>
        <p:spPr>
          <a:xfrm>
            <a:off x="1188720" y="292608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single trust model fits all contexts. Design for hybrid: PKI for legacy integration, DIDs for new systems, registries for governance.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0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D26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B1D26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1188720" y="388620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Cross-border trust requires federated models. Invest in trust list interoperability early — retrofitting is exponentially harder.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26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0" name="Google Shape;4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0" y="73152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1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Questions &amp; Discussion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Trust isn't a feature — it's the foundation.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1828800" y="3474720"/>
            <a:ext cx="5486400" cy="1280160"/>
          </a:xfrm>
          <a:prstGeom prst="rect">
            <a:avLst/>
          </a:prstGeom>
          <a:solidFill>
            <a:srgbClr val="0D737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1"/>
          <p:cNvSpPr/>
          <p:nvPr/>
        </p:nvSpPr>
        <p:spPr>
          <a:xfrm>
            <a:off x="2103120" y="35661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2103120" y="388620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W3C VC Data Model 2.0  •  OpenID4VCI Spec  •  IETF SD-JWT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GLEIF vLEI Ecosystem  •  EBSI Documentation  •  TRAIN Protocol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eIDAS 2.0 / EUDI Wallet Architecture  •  ISO 18013-5 (mDL)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6075" y="132550"/>
            <a:ext cx="435039" cy="4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2026-02-10T22:06:35Z</dcterms:created>
  <dc:creator>Antoine</dc:creator>
</cp:coreProperties>
</file>