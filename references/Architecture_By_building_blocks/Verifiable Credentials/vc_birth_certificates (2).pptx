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1371600" cy="13716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926080"/>
            <a:ext cx="822960" cy="822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914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 Credentials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Birth Certificates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40080" y="2926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Public Infrastructure Principles, Standards &amp; Delegated Access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CDPI  |  Antoine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4300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2529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61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VCs for Birth Certificates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417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space and opportunity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64792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764792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4708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Principles Applied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17320" y="20391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Minimalism, inclusion, interoperability, security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386584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386584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as Input &amp; Output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17320" y="26609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 from CRVS; presentation to relying parties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008376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008376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9067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026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Choice &amp; Rationale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417320" y="32826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VC, OpenID4VCI/VP, SD-JWT, mDL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3630168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3630168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12464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3648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Architecture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417320" y="3904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Single-VC vs. Multi-VC patterns; holder ≠ subject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40080" y="425196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0080" y="425196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34256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417320" y="4270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1417320" y="45262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issuer, verifier interactions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Verifiable Credentials for Birth Certificates?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645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166M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birth registration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188720"/>
            <a:ext cx="2560320" cy="1645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births in Sub-Saharan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go unregistered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560320" cy="1645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globally lack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legal identity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certificates are easily lost, damaged, forged, and expensive to replace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verification requires physical document exchange and apostille processes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must carry original documents, creating single points of failure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selective disclosure: full identity details exposed for simple age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DPI Principles Applied to Birth Certificate VCs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691640"/>
          </a:xfrm>
          <a:prstGeom prst="rect">
            <a:avLst/>
          </a:prstGeom>
          <a:solidFill>
            <a:srgbClr val="0C1E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verification for remote areas. Low-tech fallback with QR codes. No smartphone requirement for verification.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0" y="1097280"/>
            <a:ext cx="2560320" cy="1691640"/>
          </a:xfrm>
          <a:prstGeom prst="rect">
            <a:avLst/>
          </a:prstGeom>
          <a:solidFill>
            <a:srgbClr val="0C1E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80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5760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 (W3C VC, OpenID4VP) ensure cross-border and cross-system acceptance. No vendor lock-in.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309360" y="1097280"/>
            <a:ext cx="2560320" cy="1691640"/>
          </a:xfrm>
          <a:prstGeom prst="rect">
            <a:avLst/>
          </a:prstGeom>
          <a:solidFill>
            <a:srgbClr val="0C1E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801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9224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disclosure (SD-JWT) reveals only what's needed. Cryptographic integrity without central database queries.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40080" y="3017520"/>
            <a:ext cx="2560320" cy="1691640"/>
          </a:xfrm>
          <a:prstGeom prst="rect">
            <a:avLst/>
          </a:prstGeom>
          <a:solidFill>
            <a:srgbClr val="0C1E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004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Minimalism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2296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existing CRVS infrastructure. VCs are a layer atop civil registration, not a replacement.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474720" y="3017520"/>
            <a:ext cx="2560320" cy="1691640"/>
          </a:xfrm>
          <a:prstGeom prst="rect">
            <a:avLst/>
          </a:prstGeom>
          <a:solidFill>
            <a:srgbClr val="0C1E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20040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11480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65760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held in citizen wallets. Consent-driven sharing. Holder can revoke access at any time.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309360" y="3017520"/>
            <a:ext cx="2560320" cy="1691640"/>
          </a:xfrm>
          <a:prstGeom prst="rect">
            <a:avLst/>
          </a:prstGeom>
          <a:solidFill>
            <a:srgbClr val="0C1E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20040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Trust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49224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registries enable verification across jurisdictions without a single central authority.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Birth Certificate VC: Issuance &amp; Presentation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as OUTPUT — Issuance from CRVS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registered in Civil Registration &amp; Vital Statistics (CRVS) system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CRVS authority acts as VC Issuer, signing credential with institutional key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issued via OpenID4VCI protocol to parent/guardian wallet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contains: child name, DOB, place of birth, parents, registration number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proof binds credential to issuing authority's DID/PKI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as INPUT — Presentation to Relying Parties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57800" y="1645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party (school, hospital, border) requests proof via OpenID4VP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selects birth certificate VC, applies selective disclosure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5780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required claims shared (e.g., age &gt; 5 for school enrollment)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checks cryptographic signature against trust registry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5780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call-back to issuer needed — offline verification supported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credential serves as both a digitally signed output of civil registration and a verifiable input to downstream services.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 Selection &amp; Rationale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8686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5156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6128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612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FORMAT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Verifiable Credentials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Model 2.0)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1247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interoperability standard. JSON-LD or JWT encoding. Extensible schema for birth certificate claims. Natively supports holder ≠ subject.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039112"/>
            <a:ext cx="7863840" cy="8686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39112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148840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14400" y="24048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SD-JWT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(Selective Disclosure JWT)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11226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sharing only specific claims (e.g., child's age without full name). Simpler than BBS+ signatures. Growing ecosystem support. IETF standardized.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7863840" cy="8686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26664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136392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136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4400" y="3392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OpenID4VCI / OpenID4VP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09981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issuance and presentation protocols. REST-based, wallet-agnostic. Same-device and cross-device flows. Built on proven OAuth 2.0.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014216"/>
            <a:ext cx="7863840" cy="8686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014216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4123944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123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14400" y="43799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DID:web + PKI Bridge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0873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issuers leverage existing PKI certificates. DID:web provides decentralized resolution. Trust registries (e.g., DeDi) discover issuer credibility.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Standards Stack?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64592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VC + SD-JWT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mDL (ISO 18013-5)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Broader claim flexibility; natively supports holder ≠ subject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 Disclosure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SD-JWT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BBS+ Signatures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Wider tooling; IETF track; no pairing-based crypto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Issuance 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OpenID4VCI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CHAPI / DIDComm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REST-native, OAuth-aligned; easier government system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OpenID4VP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DIDComm Present Proof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Aligns with issuance stack; same-device + cross-device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DID:web + PKI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DID:ion / DID:ethr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Leverages existing government PKI; no blockchain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proof + QR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Online-only status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for low-connectivity regions; DPI inclusion principle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Delegation Architecture: W3C VC Data Model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W3C VC Data Model natively supports holder ≠ subject. Two architectural patterns address delegated access for minors.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3520440"/>
          </a:xfrm>
          <a:prstGeom prst="rect">
            <a:avLst/>
          </a:prstGeom>
          <a:solidFill>
            <a:srgbClr val="0C1E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3931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53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A: Single VC, Varying Holder &amp; Subject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383280" cy="137160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Certificate VC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508760" cy="457200"/>
          </a:xfrm>
          <a:prstGeom prst="rect">
            <a:avLst/>
          </a:prstGeom>
          <a:solidFill>
            <a:srgbClr val="14453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774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credentialSubject: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did:child:123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68880" y="2377440"/>
            <a:ext cx="1554480" cy="457200"/>
          </a:xfrm>
          <a:prstGeom prst="rect">
            <a:avLst/>
          </a:prstGeom>
          <a:solidFill>
            <a:srgbClr val="14453D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2377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holder: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14600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did:parent:456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40280" y="23957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3575304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4930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credential issued by CRVS authority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3831336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49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credentialSubject = child (the identity owner)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4087368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0050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= parent/guardian (who presents it)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4343400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261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field changes on custody transfer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4599432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5171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wallet management — one artifact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325880"/>
            <a:ext cx="3931920" cy="3520440"/>
          </a:xfrm>
          <a:prstGeom prst="rect">
            <a:avLst/>
          </a:prstGeom>
          <a:solidFill>
            <a:srgbClr val="0C1E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325880"/>
            <a:ext cx="39319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353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B: Multi-VC — Holder VC + Subject VC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2011680"/>
            <a:ext cx="1645920" cy="137160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8348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VC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parent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holder: parent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relationship: guardian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scope: [claims list]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766560" y="2011680"/>
            <a:ext cx="1737360" cy="137160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1228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Cert VC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child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holder: child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DOB, name, place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 #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4922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5029200" y="3575304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0" y="34930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credentials presented together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0" y="383133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3749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VC proves delegation authority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0" y="4087368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40050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Cert VC is the child's identity claim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0" y="434340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4261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guardian VC without touching birth cert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0" y="459943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0" y="45171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guardians independently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Single-VC vs. Multi-VC: Trade-offs &amp; Recommendation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  <a:gridCol w="3657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A: Single VC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B: Multi-VC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VC with credentialSubject = child, holder = parent/guardian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Guardian VC (authority) + Birth Cert VC (identity). Presented as a pair.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VC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use of holder ≠ subject in VC Data Model 2.0. Clean, standard-native.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standard VC model for each credential. Linkage via credential references.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Guardian Revocation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re-issuance of entire birth cert VC with updated holder field.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 guardian VC only; birth cert VC remains untouched.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Guardians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separate VC per guardian (each with same subject, different holder).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separate guardian VCs; all link to same birth cert VC.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Custody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Re-issue VC with new holder. Old VC must be revoked via status list.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 old guardian VC, issue new one. Birth cert stays valid.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Simpler — single artifact in wallet. Parent presents one credential.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credentials must be managed and presented together. More complex UX.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VC verification. Check holder ≠ subject and validate signature.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verify both VCs and validate the linkage between them.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Age-of-Majority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Re-issue with holder = subject (child becomes holder of their own VC).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takes direct possession of birth cert VC. Guardian VCs expire.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Delegated Access: Implementation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1005840" cy="10058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CRVS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VC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691640" y="1600200"/>
            <a:ext cx="4572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1097280"/>
            <a:ext cx="1005840" cy="1005840"/>
          </a:xfrm>
          <a:prstGeom prst="ellipse">
            <a:avLst/>
          </a:prstGeom>
          <a:solidFill>
            <a:srgbClr val="0F2B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71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4884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14884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VC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474720" y="1600200"/>
            <a:ext cx="4572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60520" y="1097280"/>
            <a:ext cx="1005840" cy="10058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716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3192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93192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RAR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257800" y="1600200"/>
            <a:ext cx="4572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43600" y="1097280"/>
            <a:ext cx="1005840" cy="10058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1500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School)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71500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claims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040880" y="1600200"/>
            <a:ext cx="4572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26680" y="1097280"/>
            <a:ext cx="1005840" cy="1005840"/>
          </a:xfrm>
          <a:prstGeom prst="ellipse">
            <a:avLst/>
          </a:prstGeom>
          <a:solidFill>
            <a:srgbClr val="0F2B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37160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9808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49808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issuer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57200" y="3246120"/>
            <a:ext cx="8229600" cy="1645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" y="3264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Details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8580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Token: Parent wallet issues a short-lived, scoped OAuth 2.0 access token using Rich Authorization Requests (RAR) specifying exactly which claims the third party may access.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685800" y="40873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Third party uses OpenID4VP to request specific claims. Wallet applies SD-JWT selective disclosure, revealing only the delegated scope (e.g., child's age range for school enrollment).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685800" y="44714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Relying party verifies VC signature against trust registry (DID:web resolver or PKI bridge), checks delegation token validity, and confirms credential status via Bitstring Status List.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9748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24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CRVS Authority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874520"/>
            <a:ext cx="457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Registration DB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423160"/>
            <a:ext cx="457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Issuance Service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97180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971800"/>
            <a:ext cx="457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OpenID4VCI Endpoint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52044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520440"/>
            <a:ext cx="457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DID:web / PKI Keys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06908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4069080"/>
            <a:ext cx="457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List Publisher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100584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1005840"/>
            <a:ext cx="2697480" cy="64008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1024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Layer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20440" y="1353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Parent/Guardian Wallet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187452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0440" y="1874520"/>
            <a:ext cx="45720" cy="41148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App (e.g., Inji)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20440" y="242316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0" name="Shape 28"/>
          <p:cNvSpPr/>
          <p:nvPr/>
        </p:nvSpPr>
        <p:spPr>
          <a:xfrm>
            <a:off x="3520440" y="2423160"/>
            <a:ext cx="45720" cy="41148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1" name="Text 29"/>
          <p:cNvSpPr/>
          <p:nvPr/>
        </p:nvSpPr>
        <p:spPr>
          <a:xfrm>
            <a:off x="370332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Store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20440" y="297180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3" name="Shape 31"/>
          <p:cNvSpPr/>
          <p:nvPr/>
        </p:nvSpPr>
        <p:spPr>
          <a:xfrm>
            <a:off x="3520440" y="2971800"/>
            <a:ext cx="45720" cy="41148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4" name="Text 32"/>
          <p:cNvSpPr/>
          <p:nvPr/>
        </p:nvSpPr>
        <p:spPr>
          <a:xfrm>
            <a:off x="37033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Manager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520440" y="352044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6" name="Shape 34"/>
          <p:cNvSpPr/>
          <p:nvPr/>
        </p:nvSpPr>
        <p:spPr>
          <a:xfrm>
            <a:off x="3520440" y="3520440"/>
            <a:ext cx="45720" cy="41148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7" name="Text 35"/>
          <p:cNvSpPr/>
          <p:nvPr/>
        </p:nvSpPr>
        <p:spPr>
          <a:xfrm>
            <a:off x="370332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SD-JWT Processor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520440" y="406908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9" name="Shape 37"/>
          <p:cNvSpPr/>
          <p:nvPr/>
        </p:nvSpPr>
        <p:spPr>
          <a:xfrm>
            <a:off x="3520440" y="4069080"/>
            <a:ext cx="45720" cy="41148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40" name="Text 38"/>
          <p:cNvSpPr/>
          <p:nvPr/>
        </p:nvSpPr>
        <p:spPr>
          <a:xfrm>
            <a:off x="370332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QR Generator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09360" y="100584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1005840"/>
            <a:ext cx="26974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1024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Layer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46520" y="1353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Party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46520" y="187452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6" name="Shape 44"/>
          <p:cNvSpPr/>
          <p:nvPr/>
        </p:nvSpPr>
        <p:spPr>
          <a:xfrm>
            <a:off x="6446520" y="1874520"/>
            <a:ext cx="457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6294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OpenID4VP Client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46520" y="242316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9" name="Shape 47"/>
          <p:cNvSpPr/>
          <p:nvPr/>
        </p:nvSpPr>
        <p:spPr>
          <a:xfrm>
            <a:off x="6446520" y="2423160"/>
            <a:ext cx="457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662940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Registry Resolver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46520" y="297180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2" name="Shape 50"/>
          <p:cNvSpPr/>
          <p:nvPr/>
        </p:nvSpPr>
        <p:spPr>
          <a:xfrm>
            <a:off x="6446520" y="2971800"/>
            <a:ext cx="457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662940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46520" y="352044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5" name="Shape 53"/>
          <p:cNvSpPr/>
          <p:nvPr/>
        </p:nvSpPr>
        <p:spPr>
          <a:xfrm>
            <a:off x="6446520" y="3520440"/>
            <a:ext cx="457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662940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 (Bitstring)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46520" y="4069080"/>
            <a:ext cx="2423160" cy="4114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8" name="Shape 56"/>
          <p:cNvSpPr/>
          <p:nvPr/>
        </p:nvSpPr>
        <p:spPr>
          <a:xfrm>
            <a:off x="6446520" y="4069080"/>
            <a:ext cx="457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662940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Token Validator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Considerations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0972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6128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Framework First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defining issuer accreditation, credential schemas, and revocation policies before technical implementation.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4023360" cy="10972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515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6128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by Design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37760" y="1508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QR-based offline verification and assisted models for non-smartphone users ensure no one is excluded from the system.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331720"/>
            <a:ext cx="4023360" cy="10972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33172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4144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Migration Path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2788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augment, not replace, existing paper certificates. Dual-track issuance allows gradual adoption without disrupting CRVS.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2331720"/>
            <a:ext cx="4023360" cy="10972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33172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4144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Defaults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937760" y="2788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selective disclosure. Never share full birth certificate data when a subset suffices. Embed privacy into protocol choice.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611880"/>
            <a:ext cx="4023360" cy="10972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" y="36118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2160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Governance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4008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legal frameworks for guardian delegation, age-of-majority transitions, and custody change scenarios across jurisdictions.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754880" y="3611880"/>
            <a:ext cx="4023360" cy="10972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754880" y="36118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21608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4924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Trust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93776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federated trust registries (e.g., DeDi protocol) so birth certificate VCs issued in one jurisdiction can be verified in another.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0" y="914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Trust in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Identity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Birth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0" y="2834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Credentials transform birth certificates from static paper documents into dynamic, privacy-preserving, digitally verifiable assets — anchored in DPI principles of inclusion, interoperability, and user control.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CDPI  |  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Verifiable Credentials for Birth Certificates</dc:title>
  <dc:subject>PptxGenJS Presentation</dc:subject>
  <dc:creator>Antoine - CDPI</dc:creator>
  <cp:lastModifiedBy>Antoine - CDPI</cp:lastModifiedBy>
  <cp:revision>1</cp:revision>
  <dcterms:created xsi:type="dcterms:W3CDTF">2026-02-23T13:01:36Z</dcterms:created>
  <dcterms:modified xsi:type="dcterms:W3CDTF">2026-02-23T13:01:36Z</dcterms:modified>
</cp:coreProperties>
</file>